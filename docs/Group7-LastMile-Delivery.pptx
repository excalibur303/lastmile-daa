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Dijkstra (stops only)</c:v>
                </c:pt>
              </c:strCache>
            </c:strRef>
          </c:tx>
          <c:spPr>
            <a:ln w="31750">
              <a:solidFill>
                <a:srgbClr val="0072B2"/>
              </a:solidFill>
            </a:ln>
          </c:spPr>
          <c:marker>
            <c:symbol val="circle"/>
            <c:size val="8"/>
            <c:spPr>
              <a:solidFill>
                <a:srgbClr val="0072B2"/>
              </a:solidFill>
              <a:ln>
                <a:solidFill>
                  <a:srgbClr val="0072B2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0.05</c:v>
                </c:pt>
                <c:pt idx="1">
                  <c:v>0.15</c:v>
                </c:pt>
                <c:pt idx="2">
                  <c:v>0.30</c:v>
                </c:pt>
                <c:pt idx="3">
                  <c:v>0.50</c:v>
                </c:pt>
                <c:pt idx="4">
                  <c:v>0.70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7.5</c:v>
                </c:pt>
                <c:pt idx="1">
                  <c:v>13.8</c:v>
                </c:pt>
                <c:pt idx="2">
                  <c:v>21.2</c:v>
                </c:pt>
                <c:pt idx="3">
                  <c:v>29.2</c:v>
                </c:pt>
                <c:pt idx="4">
                  <c:v>36.2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Floyd–Warshall</c:v>
                </c:pt>
              </c:strCache>
            </c:strRef>
          </c:tx>
          <c:spPr>
            <a:ln w="31750">
              <a:solidFill>
                <a:srgbClr val="B85C00"/>
              </a:solidFill>
            </a:ln>
          </c:spPr>
          <c:marker>
            <c:symbol val="square"/>
            <c:size val="8"/>
            <c:spPr>
              <a:solidFill>
                <a:srgbClr val="B85C00"/>
              </a:solidFill>
              <a:ln>
                <a:solidFill>
                  <a:srgbClr val="B85C00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0.05</c:v>
                </c:pt>
                <c:pt idx="1">
                  <c:v>0.15</c:v>
                </c:pt>
                <c:pt idx="2">
                  <c:v>0.30</c:v>
                </c:pt>
                <c:pt idx="3">
                  <c:v>0.50</c:v>
                </c:pt>
                <c:pt idx="4">
                  <c:v>0.70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38.0</c:v>
                </c:pt>
                <c:pt idx="1">
                  <c:v>46.5</c:v>
                </c:pt>
                <c:pt idx="2">
                  <c:v>51.1</c:v>
                </c:pt>
                <c:pt idx="3">
                  <c:v>54.1</c:v>
                </c:pt>
                <c:pt idx="4">
                  <c:v>52.8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Johnson</c:v>
                </c:pt>
              </c:strCache>
            </c:strRef>
          </c:tx>
          <c:spPr>
            <a:ln w="31750">
              <a:solidFill>
                <a:srgbClr val="00725A"/>
              </a:solidFill>
            </a:ln>
          </c:spPr>
          <c:marker>
            <c:symbol val="triangle"/>
            <c:size val="8"/>
            <c:spPr>
              <a:solidFill>
                <a:srgbClr val="00725A"/>
              </a:solidFill>
              <a:ln>
                <a:solidFill>
                  <a:srgbClr val="00725A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0.05</c:v>
                </c:pt>
                <c:pt idx="1">
                  <c:v>0.15</c:v>
                </c:pt>
                <c:pt idx="2">
                  <c:v>0.30</c:v>
                </c:pt>
                <c:pt idx="3">
                  <c:v>0.50</c:v>
                </c:pt>
                <c:pt idx="4">
                  <c:v>0.70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20.7</c:v>
                </c:pt>
                <c:pt idx="1">
                  <c:v>36.8</c:v>
                </c:pt>
                <c:pt idx="2">
                  <c:v>52.3</c:v>
                </c:pt>
                <c:pt idx="3">
                  <c:v>66.8</c:v>
                </c:pt>
                <c:pt idx="4">
                  <c:v>74.7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B677A"/>
                    </a:solidFill>
                  </a:rPr>
                  <a:t>Edge density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3E8EF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8EF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B677A"/>
                    </a:solidFill>
                  </a:rPr>
                  <a:t>Runtime (ms)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47556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fleet travel time (min)</c:v>
                </c:pt>
              </c:strCache>
            </c:strRef>
          </c:tx>
          <c:spPr>
            <a:solidFill>
              <a:srgbClr val="0072B2"/>
            </a:solidFill>
          </c:spPr>
          <c:dPt>
            <c:idx val="0"/>
            <c:spPr>
              <a:solidFill>
                <a:srgbClr val="0072B2"/>
              </a:solidFill>
            </c:spPr>
          </c:dPt>
          <c:dPt>
            <c:idx val="1"/>
            <c:spPr>
              <a:solidFill>
                <a:srgbClr val="00725A"/>
              </a:solidFill>
            </c:spPr>
          </c:dPt>
          <c:dPt>
            <c:idx val="2"/>
            <c:spPr>
              <a:solidFill>
                <a:srgbClr val="B85C00"/>
              </a:solidFill>
            </c:spPr>
          </c:dPt>
          <c:cat>
            <c:strRef>
              <c:f>Sheet1!$A$2:$A$4</c:f>
              <c:strCache>
                <c:ptCount val="3"/>
                <c:pt idx="0">
                  <c:v>Prim MST</c:v>
                </c:pt>
                <c:pt idx="1">
                  <c:v>Kruskal MST</c:v>
                </c:pt>
                <c:pt idx="2">
                  <c:v>Round-robin (no zoning)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873.4</c:v>
                </c:pt>
                <c:pt idx="1">
                  <c:v>873.4</c:v>
                </c:pt>
                <c:pt idx="2">
                  <c:v>1041.5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B677A"/>
                    </a:solidFill>
                  </a:rPr>
                  <a:t>Zoning strategy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3E8EF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E3E8EF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B677A"/>
                    </a:solidFill>
                  </a:rPr>
                  <a:t>Minutes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47556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DP + deadlines</c:v>
                </c:pt>
              </c:strCache>
            </c:strRef>
          </c:tx>
          <c:spPr>
            <a:solidFill>
              <a:srgbClr val="0072B2"/>
            </a:solidFill>
          </c:spPr>
          <c:cat>
            <c:strRef>
              <c:f>Sheet1!$A$2:$A$6</c:f>
              <c:strCache>
                <c:ptCount val="5"/>
                <c:pt idx="0">
                  <c:v>6 orders</c:v>
                </c:pt>
                <c:pt idx="1">
                  <c:v>10 orders</c:v>
                </c:pt>
                <c:pt idx="2">
                  <c:v>16 orders</c:v>
                </c:pt>
                <c:pt idx="3">
                  <c:v>24 orders</c:v>
                </c:pt>
                <c:pt idx="4">
                  <c:v>32 orders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</c:v>
                </c:pt>
                <c:pt idx="1">
                  <c:v>1.2</c:v>
                </c:pt>
                <c:pt idx="2">
                  <c:v>2.2</c:v>
                </c:pt>
                <c:pt idx="3">
                  <c:v>3.4</c:v>
                </c:pt>
                <c:pt idx="4">
                  <c:v>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DP 0/1</c:v>
                </c:pt>
              </c:strCache>
            </c:strRef>
          </c:tx>
          <c:spPr>
            <a:solidFill>
              <a:srgbClr val="B85C00"/>
            </a:solidFill>
          </c:spPr>
          <c:cat>
            <c:strRef>
              <c:f>Sheet1!$A$2:$A$6</c:f>
              <c:strCache>
                <c:ptCount val="5"/>
                <c:pt idx="0">
                  <c:v>6 orders</c:v>
                </c:pt>
                <c:pt idx="1">
                  <c:v>10 orders</c:v>
                </c:pt>
                <c:pt idx="2">
                  <c:v>16 orders</c:v>
                </c:pt>
                <c:pt idx="3">
                  <c:v>24 orders</c:v>
                </c:pt>
                <c:pt idx="4">
                  <c:v>32 orders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</c:v>
                </c:pt>
                <c:pt idx="1">
                  <c:v>2.2</c:v>
                </c:pt>
                <c:pt idx="2">
                  <c:v>5.0</c:v>
                </c:pt>
                <c:pt idx="3">
                  <c:v>6.0</c:v>
                </c:pt>
                <c:pt idx="4">
                  <c:v>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Greedy EDD</c:v>
                </c:pt>
              </c:strCache>
            </c:strRef>
          </c:tx>
          <c:spPr>
            <a:solidFill>
              <a:srgbClr val="00725A"/>
            </a:solidFill>
          </c:spPr>
          <c:cat>
            <c:strRef>
              <c:f>Sheet1!$A$2:$A$6</c:f>
              <c:strCache>
                <c:ptCount val="5"/>
                <c:pt idx="0">
                  <c:v>6 orders</c:v>
                </c:pt>
                <c:pt idx="1">
                  <c:v>10 orders</c:v>
                </c:pt>
                <c:pt idx="2">
                  <c:v>16 orders</c:v>
                </c:pt>
                <c:pt idx="3">
                  <c:v>24 orders</c:v>
                </c:pt>
                <c:pt idx="4">
                  <c:v>32 orders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0.6</c:v>
                </c:pt>
                <c:pt idx="1">
                  <c:v>2.8</c:v>
                </c:pt>
                <c:pt idx="2">
                  <c:v>3.0</c:v>
                </c:pt>
                <c:pt idx="3">
                  <c:v>4.2</c:v>
                </c:pt>
                <c:pt idx="4">
                  <c:v>3.8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Greedy density</c:v>
                </c:pt>
              </c:strCache>
            </c:strRef>
          </c:tx>
          <c:spPr>
            <a:solidFill>
              <a:srgbClr val="A0467F"/>
            </a:solidFill>
          </c:spPr>
          <c:cat>
            <c:strRef>
              <c:f>Sheet1!$A$2:$A$6</c:f>
              <c:strCache>
                <c:ptCount val="5"/>
                <c:pt idx="0">
                  <c:v>6 orders</c:v>
                </c:pt>
                <c:pt idx="1">
                  <c:v>10 orders</c:v>
                </c:pt>
                <c:pt idx="2">
                  <c:v>16 orders</c:v>
                </c:pt>
                <c:pt idx="3">
                  <c:v>24 orders</c:v>
                </c:pt>
                <c:pt idx="4">
                  <c:v>32 orders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0.8</c:v>
                </c:pt>
                <c:pt idx="1">
                  <c:v>2.2</c:v>
                </c:pt>
                <c:pt idx="2">
                  <c:v>2.6</c:v>
                </c:pt>
                <c:pt idx="3">
                  <c:v>3.4</c:v>
                </c:pt>
                <c:pt idx="4">
                  <c:v>3.2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B677A"/>
                    </a:solidFill>
                  </a:rPr>
                  <a:t>Instance size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3E8EF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E3E8EF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B677A"/>
                    </a:solidFill>
                  </a:rPr>
                  <a:t>Orders dropped (mean)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47556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End-to-end solve</c:v>
                </c:pt>
              </c:strCache>
            </c:strRef>
          </c:tx>
          <c:spPr>
            <a:ln w="31750">
              <a:solidFill>
                <a:srgbClr val="0072B2"/>
              </a:solidFill>
            </a:ln>
          </c:spPr>
          <c:marker>
            <c:symbol val="circle"/>
            <c:size val="8"/>
            <c:spPr>
              <a:solidFill>
                <a:srgbClr val="0072B2"/>
              </a:solidFill>
              <a:ln>
                <a:solidFill>
                  <a:srgbClr val="0072B2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20</c:v>
                </c:pt>
                <c:pt idx="1">
                  <c:v>40</c:v>
                </c:pt>
                <c:pt idx="2">
                  <c:v>60</c:v>
                </c:pt>
                <c:pt idx="3">
                  <c:v>80</c:v>
                </c:pt>
                <c:pt idx="4">
                  <c:v>100</c:v>
                </c:pt>
                <c:pt idx="5">
                  <c:v>130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4.9</c:v>
                </c:pt>
                <c:pt idx="1">
                  <c:v>15.3</c:v>
                </c:pt>
                <c:pt idx="2">
                  <c:v>29.3</c:v>
                </c:pt>
                <c:pt idx="3">
                  <c:v>55.8</c:v>
                </c:pt>
                <c:pt idx="4">
                  <c:v>95.5</c:v>
                </c:pt>
                <c:pt idx="5">
                  <c:v>190.7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B677A"/>
                    </a:solidFill>
                  </a:rPr>
                  <a:t>Nodes in the graph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3E8EF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8EF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B677A"/>
                    </a:solidFill>
                  </a:rPr>
                  <a:t>Runtime (ms)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47556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profit</c:v>
                </c:pt>
              </c:strCache>
            </c:strRef>
          </c:tx>
          <c:spPr>
            <a:ln w="31750">
              <a:solidFill>
                <a:srgbClr val="0072B2"/>
              </a:solidFill>
            </a:ln>
          </c:spPr>
          <c:marker>
            <c:symbol val="circle"/>
            <c:size val="8"/>
            <c:spPr>
              <a:solidFill>
                <a:srgbClr val="0072B2"/>
              </a:solidFill>
              <a:ln>
                <a:solidFill>
                  <a:srgbClr val="0072B2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4</c:v>
                </c:pt>
                <c:pt idx="1">
                  <c:v>8</c:v>
                </c:pt>
                <c:pt idx="2">
                  <c:v>12</c:v>
                </c:pt>
                <c:pt idx="3">
                  <c:v>16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524</c:v>
                </c:pt>
                <c:pt idx="1">
                  <c:v>548</c:v>
                </c:pt>
                <c:pt idx="2">
                  <c:v>617</c:v>
                </c:pt>
                <c:pt idx="3">
                  <c:v>741</c:v>
                </c:pt>
                <c:pt idx="4">
                  <c:v>845</c:v>
                </c:pt>
                <c:pt idx="5">
                  <c:v>768</c:v>
                </c:pt>
                <c:pt idx="6">
                  <c:v>962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B677A"/>
                    </a:solidFill>
                  </a:rPr>
                  <a:t>Vehicle capacity (units)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3E8EF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8EF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B677A"/>
                    </a:solidFill>
                  </a:rPr>
                  <a:t>Profit (units)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47556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011680"/>
            <a:ext cx="109728" cy="1737360"/>
          </a:xfrm>
          <a:prstGeom prst="rect">
            <a:avLst/>
          </a:prstGeom>
          <a:solidFill>
            <a:srgbClr val="5A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Last-mile Delivery with Deadlines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71800"/>
            <a:ext cx="100584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0">
                <a:solidFill>
                  <a:srgbClr val="C8D1DD"/>
                </a:solidFill>
                <a:latin typeface="Calibri"/>
              </a:rPr>
              <a:t>A two-layer heuristic pipeline: shortest paths, MST zoning, knapsack selection and exact route sequencing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754880"/>
            <a:ext cx="100584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C8D1DD"/>
                </a:solidFill>
                <a:latin typeface="Calibri"/>
              </a:rPr>
              <a:t>Design and Analysis of Algorithms · Project-Based Learning</a:t>
            </a:r>
          </a:p>
          <a:p>
            <a:pPr algn="l"/>
            <a:r>
              <a:rPr sz="1500" b="0">
                <a:solidFill>
                  <a:srgbClr val="C8D1DD"/>
                </a:solidFill>
                <a:latin typeface="Calibri"/>
              </a:rPr>
              <a:t>CSE Rhinos · Group 7 · Problem 2</a:t>
            </a:r>
          </a:p>
          <a:p>
            <a:pPr algn="l"/>
            <a:r>
              <a:rPr sz="1500" b="0">
                <a:solidFill>
                  <a:srgbClr val="C8D1DD"/>
                </a:solidFill>
                <a:latin typeface="Calibri"/>
              </a:rPr>
              <a:t>Lakshay Sethia (25WU0101167)  ·  Sidharth Sood (25WU0101132)  ·  Ananey Sharma (25WU0102017)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12648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8A97AB"/>
                </a:solidFill>
                <a:latin typeface="Calibri"/>
              </a:rPr>
              <a:t>Woxsen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Plan vehicle routes that earn the most profit while every delivery meets its deadline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CSE Rhinos · Group 7 · Last-mile Delivery with Deadlines · DAA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D5FD6"/>
                </a:solidFill>
                <a:latin typeface="Calibri"/>
              </a:rPr>
              <a:t>•  </a:t>
            </a:r>
            <a:r>
              <a:rPr b="1" sz="1600">
                <a:solidFill>
                  <a:srgbClr val="0F172A"/>
                </a:solidFill>
                <a:latin typeface="Calibri"/>
              </a:rPr>
              <a:t>Input:  </a:t>
            </a:r>
            <a:r>
              <a:rPr sz="1600">
                <a:solidFill>
                  <a:srgbClr val="475569"/>
                </a:solidFill>
                <a:latin typeface="Calibri"/>
              </a:rPr>
              <a:t>a road network, a depot, a fleet of vehicles and a list of orders (pickup, drop-off, profit, quantity, deadline).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5FD6"/>
                </a:solidFill>
                <a:latin typeface="Calibri"/>
              </a:rPr>
              <a:t>•  </a:t>
            </a:r>
            <a:r>
              <a:rPr b="1" sz="1600">
                <a:solidFill>
                  <a:srgbClr val="0F172A"/>
                </a:solidFill>
                <a:latin typeface="Calibri"/>
              </a:rPr>
              <a:t>Decide:  </a:t>
            </a:r>
            <a:r>
              <a:rPr sz="1600">
                <a:solidFill>
                  <a:srgbClr val="475569"/>
                </a:solidFill>
                <a:latin typeface="Calibri"/>
              </a:rPr>
              <a:t>which orders to accept, which vehicle carries each, and the order of stops on every route.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5FD6"/>
                </a:solidFill>
                <a:latin typeface="Calibri"/>
              </a:rPr>
              <a:t>•  </a:t>
            </a:r>
            <a:r>
              <a:rPr b="1" sz="1600">
                <a:solidFill>
                  <a:srgbClr val="0F172A"/>
                </a:solidFill>
                <a:latin typeface="Calibri"/>
              </a:rPr>
              <a:t>Objective:  </a:t>
            </a:r>
            <a:r>
              <a:rPr sz="1600">
                <a:solidFill>
                  <a:srgbClr val="475569"/>
                </a:solidFill>
                <a:latin typeface="Calibri"/>
              </a:rPr>
              <a:t>maximise profit gained minus travel cost.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5FD6"/>
                </a:solidFill>
                <a:latin typeface="Calibri"/>
              </a:rPr>
              <a:t>•  </a:t>
            </a:r>
            <a:r>
              <a:rPr b="1" sz="1600">
                <a:solidFill>
                  <a:srgbClr val="0F172A"/>
                </a:solidFill>
                <a:latin typeface="Calibri"/>
              </a:rPr>
              <a:t>Constraints:  </a:t>
            </a:r>
            <a:r>
              <a:rPr sz="1600">
                <a:solidFill>
                  <a:srgbClr val="475569"/>
                </a:solidFill>
                <a:latin typeface="Calibri"/>
              </a:rPr>
              <a:t>vehicle capacity, delivery deadlines, a shift horizon, pickup before drop-off.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5FD6"/>
                </a:solidFill>
                <a:latin typeface="Calibri"/>
              </a:rPr>
              <a:t>•  </a:t>
            </a:r>
            <a:r>
              <a:rPr b="1" sz="1600">
                <a:solidFill>
                  <a:srgbClr val="0F172A"/>
                </a:solidFill>
                <a:latin typeface="Calibri"/>
              </a:rPr>
              <a:t>Twist:  </a:t>
            </a:r>
            <a:r>
              <a:rPr sz="1600">
                <a:solidFill>
                  <a:srgbClr val="475569"/>
                </a:solidFill>
                <a:latin typeface="Calibri"/>
              </a:rPr>
              <a:t>some roads carry a negative cost in one direction (subsidies), so plain Dijkstra is not enough for cost.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0020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48272" y="1709928"/>
            <a:ext cx="470001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1D5FD6"/>
                </a:solidFill>
                <a:latin typeface="Calibri"/>
              </a:rPr>
              <a:t>Why it is hard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2103120"/>
            <a:ext cx="4700016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Selecting orders under capacity and deadlines is a knapsack-style problem; sequencing stops is a pickup-and-delivery TSP. Both are NP-hard, so one exact solve is out of reach.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10896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3218688"/>
            <a:ext cx="470001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047857"/>
                </a:solidFill>
                <a:latin typeface="Calibri"/>
              </a:rPr>
              <a:t>Our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3611880"/>
            <a:ext cx="4700016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Break it into stages. Use exact algorithms where the sub-problem is small, heuristics where it is not, and a repair loop to guarantee a valid final plan.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461772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48272" y="4727448"/>
            <a:ext cx="470001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A54B06"/>
                </a:solidFill>
                <a:latin typeface="Calibri"/>
              </a:rPr>
              <a:t>What you can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5120640"/>
            <a:ext cx="4700016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A FastAPI solver plus an interactive dashboard that replays every algorithm step by step and lets you compare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Solution overview: an 8-stage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Every stage is a swappable algorithm; the dashboard lets you pick one per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CSE Rhinos · Group 7 · Last-mile Delivery with Deadlines · DAA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856232"/>
            <a:ext cx="502920" cy="502920"/>
          </a:xfrm>
          <a:prstGeom prst="ellipse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74520"/>
            <a:ext cx="1737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Build &amp; 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22860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road graph, dual metric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69164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47872" y="1856232"/>
            <a:ext cx="502920" cy="502920"/>
          </a:xfrm>
          <a:prstGeom prst="ellipse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874520"/>
            <a:ext cx="1737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Metric closure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560320"/>
            <a:ext cx="22860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Dijkstra / Floyd / Johnson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9164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82512" y="1856232"/>
            <a:ext cx="502920" cy="502920"/>
          </a:xfrm>
          <a:prstGeom prst="ellipse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59" y="1874520"/>
            <a:ext cx="1737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Negative-cycle screen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20"/>
            <a:ext cx="22860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Bellman-Ford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69164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17152" y="1856232"/>
            <a:ext cx="502920" cy="502920"/>
          </a:xfrm>
          <a:prstGeom prst="ellipse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1874520"/>
            <a:ext cx="1737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MST zoning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560320"/>
            <a:ext cx="22860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Prim / Kruskal, cut k−1 edges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84048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3232" y="4005072"/>
            <a:ext cx="502920" cy="502920"/>
          </a:xfrm>
          <a:prstGeom prst="ellipse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023360"/>
            <a:ext cx="1737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Order selection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709160"/>
            <a:ext cx="22860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DP / greedy / LP bound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0" y="384048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547872" y="4005072"/>
            <a:ext cx="502920" cy="502920"/>
          </a:xfrm>
          <a:prstGeom prst="ellipse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4023360"/>
            <a:ext cx="1737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Route sequencing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4709160"/>
            <a:ext cx="22860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Held-Karp / insertion + 2-opt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84048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82512" y="4005072"/>
            <a:ext cx="502920" cy="502920"/>
          </a:xfrm>
          <a:prstGeom prst="ellipse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59" y="4023360"/>
            <a:ext cx="1737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Simulation &amp; repair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709160"/>
            <a:ext cx="22860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drop orders until feasible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384048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217152" y="4005072"/>
            <a:ext cx="502920" cy="502920"/>
          </a:xfrm>
          <a:prstGeom prst="ellipse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4023360"/>
            <a:ext cx="1737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Benchmarks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4709160"/>
            <a:ext cx="22860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5 experiments, CSV + charts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5B677A"/>
                </a:solidFill>
                <a:latin typeface="Calibri"/>
              </a:rPr>
              <a:t>Layer 1 (S1–S4) prepares the geometry. Layer 2 (S5–S7) makes the decisions. S8 measures all of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Graph model and the dual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Time and cost are different weights on the same road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CSE Rhinos · Group 7 · Last-mile Delivery with Deadlines · DAA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09928"/>
            <a:ext cx="515721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1D5FD6"/>
                </a:solidFill>
                <a:latin typeface="Calibri"/>
              </a:rPr>
              <a:t>τ  travel time  (always ≥ 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103120"/>
            <a:ext cx="5157216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Used for routing, deadlines and the simulation clock. Because it is never negative, Dijkstra is always valid for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041648"/>
            <a:ext cx="515721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A54B06"/>
                </a:solidFill>
                <a:latin typeface="Calibri"/>
              </a:rPr>
              <a:t>cost  (directional, may be &lt; 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434840"/>
            <a:ext cx="5157216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A subsidised road can pay the driver in one direction. Total cost and profit use it, so cost shortest paths may not exist if a negative cycle appears.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D5FD6"/>
                </a:solidFill>
                <a:latin typeface="Calibri"/>
              </a:rPr>
              <a:t>•  </a:t>
            </a:r>
            <a:r>
              <a:rPr b="1" sz="1500">
                <a:solidFill>
                  <a:srgbClr val="0F172A"/>
                </a:solidFill>
                <a:latin typeface="Calibri"/>
              </a:rPr>
              <a:t>Three generators:  </a:t>
            </a:r>
            <a:r>
              <a:rPr sz="1500">
                <a:solidFill>
                  <a:srgbClr val="475569"/>
                </a:solidFill>
                <a:latin typeface="Calibri"/>
              </a:rPr>
              <a:t>radial rings, grid lattice, scale-free (preferential attachment).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D5FD6"/>
                </a:solidFill>
                <a:latin typeface="Calibri"/>
              </a:rPr>
              <a:t>•  </a:t>
            </a:r>
            <a:r>
              <a:rPr b="1" sz="1500">
                <a:solidFill>
                  <a:srgbClr val="0F172A"/>
                </a:solidFill>
                <a:latin typeface="Calibri"/>
              </a:rPr>
              <a:t>Seeded:  </a:t>
            </a:r>
            <a:r>
              <a:rPr sz="1500">
                <a:solidFill>
                  <a:srgbClr val="475569"/>
                </a:solidFill>
                <a:latin typeface="Calibri"/>
              </a:rPr>
              <a:t>the same seed and parameters always reproduce the same instance.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D5FD6"/>
                </a:solidFill>
                <a:latin typeface="Calibri"/>
              </a:rPr>
              <a:t>•  </a:t>
            </a:r>
            <a:r>
              <a:rPr b="1" sz="1500">
                <a:solidFill>
                  <a:srgbClr val="0F172A"/>
                </a:solidFill>
                <a:latin typeface="Calibri"/>
              </a:rPr>
              <a:t>Negative edges are deliberate:  </a:t>
            </a:r>
            <a:r>
              <a:rPr sz="1500">
                <a:solidFill>
                  <a:srgbClr val="475569"/>
                </a:solidFill>
                <a:latin typeface="Calibri"/>
              </a:rPr>
              <a:t>they make Bellman-Ford load-bearing rather than decorative.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D5FD6"/>
                </a:solidFill>
                <a:latin typeface="Calibri"/>
              </a:rPr>
              <a:t>•  </a:t>
            </a:r>
            <a:r>
              <a:rPr b="1" sz="1500">
                <a:solidFill>
                  <a:srgbClr val="0F172A"/>
                </a:solidFill>
                <a:latin typeface="Calibri"/>
              </a:rPr>
              <a:t>Validation:  </a:t>
            </a:r>
            <a:r>
              <a:rPr sz="1500">
                <a:solidFill>
                  <a:srgbClr val="475569"/>
                </a:solidFill>
                <a:latin typeface="Calibri"/>
              </a:rPr>
              <a:t>S1 rejects instances that cannot place every order on distinct nodes.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D5FD6"/>
                </a:solidFill>
                <a:latin typeface="Calibri"/>
              </a:rPr>
              <a:t>•  </a:t>
            </a:r>
            <a:r>
              <a:rPr b="1" sz="1500">
                <a:solidFill>
                  <a:srgbClr val="0F172A"/>
                </a:solidFill>
                <a:latin typeface="Calibri"/>
              </a:rPr>
              <a:t>Why two metrics:  </a:t>
            </a:r>
            <a:r>
              <a:rPr sz="1500">
                <a:solidFill>
                  <a:srgbClr val="475569"/>
                </a:solidFill>
                <a:latin typeface="Calibri"/>
              </a:rPr>
              <a:t>minimising time keeps routes fast; minimising cost alone could send vehicles on long detours.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Shortest paths: four algorithms, each used where it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CSE Rhinos · Group 7 · Last-mile Delivery with Deadlines · DAA PBL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834640"/>
                <a:gridCol w="6126480"/>
              </a:tblGrid>
              <a:tr h="62179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Algorithm</a:t>
                      </a:r>
                    </a:p>
                  </a:txBody>
                  <a:tcPr marL="109728" anchor="ctr">
                    <a:solidFill>
                      <a:srgbClr val="1D5F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Complexity</a:t>
                      </a:r>
                    </a:p>
                  </a:txBody>
                  <a:tcPr marL="109728" anchor="ctr">
                    <a:solidFill>
                      <a:srgbClr val="1D5F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Role in the pipeline</a:t>
                      </a:r>
                    </a:p>
                  </a:txBody>
                  <a:tcPr marL="109728" anchor="ctr">
                    <a:solidFill>
                      <a:srgbClr val="1D5FD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Dijkstra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O((V+E) log V) per source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Default. Runs only from stop nodes, so it is cheapest when stops ≪ nodes.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Floyd–Warshall</a:t>
                      </a:r>
                    </a:p>
                  </a:txBody>
                  <a:tcPr marL="109728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O(V³)</a:t>
                      </a:r>
                    </a:p>
                  </a:txBody>
                  <a:tcPr marL="109728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Full all-pairs matrix. Independent of edge count, so it wins on dense graphs.</a:t>
                      </a:r>
                    </a:p>
                  </a:txBody>
                  <a:tcPr marL="109728" anchor="ctr">
                    <a:solidFill>
                      <a:srgbClr val="F3F5F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Johnson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O(VE + V² log V)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Reweights with Bellman-Ford potentials, then Dijkstra from every node. Best on sparse graphs.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Bellman-Ford</a:t>
                      </a:r>
                    </a:p>
                  </a:txBody>
                  <a:tcPr marL="109728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O(VE)</a:t>
                      </a:r>
                    </a:p>
                  </a:txBody>
                  <a:tcPr marL="109728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Always runs once to screen the cost model for negative cycles.</a:t>
                      </a:r>
                    </a:p>
                  </a:txBody>
                  <a:tcPr marL="109728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709160"/>
            <a:ext cx="1106424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Why not just one?</a:t>
            </a:r>
          </a:p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The right choice depends on graph density: the next slide shows the measured crossover. The dashboard lets you switch algorithms and watch the search frontier, relaxed edges and (for Floyd) the matrix fill 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Measured: all-pairs runtime vs graph density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100-node graphs · mean runtime over seeds · lower is better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CSE Rhinos · Group 7 · Last-mile Delivery with Deadlines · DAA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371600"/>
          <a:ext cx="7498079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12480" y="1554480"/>
            <a:ext cx="3200400" cy="14173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7072" y="1664207"/>
            <a:ext cx="287121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1D5FD6"/>
                </a:solidFill>
                <a:latin typeface="Calibri"/>
              </a:rPr>
              <a:t>Dijkstra is fastest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7072" y="2057400"/>
            <a:ext cx="2871216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Running only from stop nodes: 7.5–36 ms across all densities.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3108960"/>
            <a:ext cx="3200400" cy="15544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77072" y="3218688"/>
            <a:ext cx="287121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A54B06"/>
                </a:solidFill>
                <a:latin typeface="Calibri"/>
              </a:rPr>
              <a:t>Crossover at ≈ 0.3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3611880"/>
            <a:ext cx="2871216" cy="96011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Johnson beats Floyd–Warshall on sparse graphs (20.7 vs 38.0 ms at 0.05) and loses on dense ones (74.7 vs 52.8 ms at 0.7).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4800600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4910328"/>
            <a:ext cx="287121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047857"/>
                </a:solidFill>
                <a:latin typeface="Calibri"/>
              </a:rPr>
              <a:t>Floyd stays flat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5303520"/>
            <a:ext cx="2871216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Its cost depends on V³, not on the number of edges.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MST zoning: one contiguous zone per vehicle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CSE Rhinos · Group 7 · Last-mile Delivery with Deadlines · DAA PBL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611880" cy="28346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73152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600" b="1">
                <a:solidFill>
                  <a:srgbClr val="1D5FD6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Build the MST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324612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Over the pickup stops, on the shortest-path metric. Prim grows from a node; Kruskal sorts edges and uses union-find.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63040"/>
            <a:ext cx="3611880" cy="28346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554480"/>
            <a:ext cx="73152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600" b="1">
                <a:solidFill>
                  <a:srgbClr val="1D5FD6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31720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Cut k−1 edges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834640"/>
            <a:ext cx="324612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Removing the k−1 heaviest tree edges splits the stops into k clusters (single-linkage clustering), one per vehicle.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611880" cy="28346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54480"/>
            <a:ext cx="73152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600" b="1">
                <a:solidFill>
                  <a:srgbClr val="1D5FD6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31720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Assign &amp; bound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834640"/>
            <a:ext cx="324612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Each vehicle serves its own zone. The tree weight also gives a lower bound on that zone’s route length.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D5FD6"/>
                </a:solidFill>
                <a:latin typeface="Calibri"/>
              </a:rPr>
              <a:t>•  </a:t>
            </a:r>
            <a:r>
              <a:rPr b="1" sz="1500">
                <a:solidFill>
                  <a:srgbClr val="0F172A"/>
                </a:solidFill>
                <a:latin typeface="Calibri"/>
              </a:rPr>
              <a:t>Prim and Kruskal produce the same tree weight:  </a:t>
            </a:r>
            <a:r>
              <a:rPr sz="1500">
                <a:solidFill>
                  <a:srgbClr val="475569"/>
                </a:solidFill>
                <a:latin typeface="Calibri"/>
              </a:rPr>
              <a:t>they differ only in build order, which the dashboard shows side by side in the trace.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D5FD6"/>
                </a:solidFill>
                <a:latin typeface="Calibri"/>
              </a:rPr>
              <a:t>•  </a:t>
            </a:r>
            <a:r>
              <a:rPr b="1" sz="1500">
                <a:solidFill>
                  <a:srgbClr val="0F172A"/>
                </a:solidFill>
                <a:latin typeface="Calibri"/>
              </a:rPr>
              <a:t>Baseline:  </a:t>
            </a:r>
            <a:r>
              <a:rPr sz="1500">
                <a:solidFill>
                  <a:srgbClr val="475569"/>
                </a:solidFill>
                <a:latin typeface="Calibri"/>
              </a:rPr>
              <a:t>“none” assigns orders round-robin and ignores geography, to show what zoning actually buys.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Measured: does MST zoning help?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Mean fleet travel time over 20 instances · lower is better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CSE Rhinos · Group 7 · Last-mile Delivery with Deadlines · DAA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8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371600"/>
          <a:ext cx="69494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63840" y="1554480"/>
            <a:ext cx="3749039" cy="17373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28431" y="1664207"/>
            <a:ext cx="341985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047857"/>
                </a:solidFill>
                <a:latin typeface="Calibri"/>
              </a:rPr>
              <a:t>16% less driving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1" y="2057400"/>
            <a:ext cx="3419856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MST zoning cuts mean fleet travel time from 1041 to 873 minutes against round-robin.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474720"/>
            <a:ext cx="3749039" cy="13716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3584448"/>
            <a:ext cx="341985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1D5FD6"/>
                </a:solidFill>
                <a:latin typeface="Calibri"/>
              </a:rPr>
              <a:t>Prim = Kruskal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3977639"/>
            <a:ext cx="3419856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Identical tree weight, as theory predicts. Pick either.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4983480"/>
            <a:ext cx="3749039" cy="11887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5093208"/>
            <a:ext cx="341985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A54B06"/>
                </a:solidFill>
                <a:latin typeface="Calibri"/>
              </a:rPr>
              <a:t>Honest limit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5486400"/>
            <a:ext cx="3419856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20 seeds; the gain varies per instance.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Order selection: knapsack with deadlines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Which orders does each vehicle commit 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CSE Rhinos · Group 7 · Last-mile Delivery with Deadlines · DAA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64207"/>
            <a:ext cx="515721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1D5FD6"/>
                </a:solidFill>
                <a:latin typeface="Calibri"/>
              </a:rPr>
              <a:t>DP with deadlines (the main method)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57400"/>
            <a:ext cx="5157216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Knapsack over capacity and a discretised time axis, so deadlines are respected during selection, not after. Exact on the discretised problem.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950208"/>
            <a:ext cx="515721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A54B06"/>
                </a:solidFill>
                <a:latin typeface="Calibri"/>
              </a:rPr>
              <a:t>DP 0/1 (deliberate baseline)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343400"/>
            <a:ext cx="5157216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Classic 0/1 knapsack on capacity only. It ignores deadlines on purpose, so the repair loop has to clean up after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55448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664207"/>
            <a:ext cx="49743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047857"/>
                </a:solidFill>
                <a:latin typeface="Calibri"/>
              </a:rPr>
              <a:t>Greedy EDD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057400"/>
            <a:ext cx="4974336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Earliest deadline first, checking capacity and deadline as the route is built.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06324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3172968"/>
            <a:ext cx="49743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047857"/>
                </a:solidFill>
                <a:latin typeface="Calibri"/>
              </a:rPr>
              <a:t>Greedy density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566160"/>
            <a:ext cx="4974336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Highest profit-per-minute first, each candidate checked for feasibility before it is accepted.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572000"/>
            <a:ext cx="5303520" cy="14173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4681728"/>
            <a:ext cx="49743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475569"/>
                </a:solidFill>
                <a:latin typeface="Calibri"/>
              </a:rPr>
              <a:t>LP upper bound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5074920"/>
            <a:ext cx="4974336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Fractional relaxation: no feasible plan can beat it. The gap shows how much of that ceiling a plan captures.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Measured: which selector needs the least repair?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Orders dropped by the repair loop, mean over seeds · lower is better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CSE Rhinos · Group 7 · Last-mile Delivery with Deadlines · DAA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10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371600"/>
          <a:ext cx="7498079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12480" y="155448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7072" y="1664207"/>
            <a:ext cx="287121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C02626"/>
                </a:solidFill>
                <a:latin typeface="Calibri"/>
              </a:rPr>
              <a:t>DP 0/1 needs most repair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7072" y="2057400"/>
            <a:ext cx="2871216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4.2 drops on average vs 2.3 for DP with deadlines: ignoring deadlines costs real orders.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3429000"/>
            <a:ext cx="3200400" cy="14173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77072" y="3538728"/>
            <a:ext cx="287121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1D5FD6"/>
                </a:solidFill>
                <a:latin typeface="Calibri"/>
              </a:rPr>
              <a:t>Why not on-time %?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3931920"/>
            <a:ext cx="2871216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Repair removes every miss, so on-time saturates at 100% for 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4983480"/>
            <a:ext cx="3200400" cy="11887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5093208"/>
            <a:ext cx="287121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047857"/>
                </a:solidFill>
                <a:latin typeface="Calibri"/>
              </a:rPr>
              <a:t>Fastest: greedy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5486400"/>
            <a:ext cx="2871216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About 15–17 ms vs 23–25 ms for DP.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Route sequencing, simulation and repair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CSE Rhinos · Group 7 · Last-mile Delivery with Deadlines · DAA PBL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332841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1D5FD6"/>
                </a:solidFill>
                <a:latin typeface="Calibri"/>
              </a:rPr>
              <a:t>Held–Karp (exact)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74519"/>
            <a:ext cx="3328416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Bitmask DP for pickup-and-delivery order, O(2ⁿ·n²). Used up to 12 stops; beyond that it falls back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481328"/>
            <a:ext cx="332841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047857"/>
                </a:solidFill>
                <a:latin typeface="Calibri"/>
              </a:rPr>
              <a:t>Insertion + 2-opt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874519"/>
            <a:ext cx="3328416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Cheapest-insertion builds a route; precedence-preserving 2-opt swaps improve it. Scales to larger zones.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1481328"/>
            <a:ext cx="305409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A54B06"/>
                </a:solidFill>
                <a:latin typeface="Calibri"/>
              </a:rPr>
              <a:t>Simulation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1874519"/>
            <a:ext cx="3054096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Replays each route with release times, service times and deadlines to find real arrival times and misses.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77639"/>
            <a:ext cx="110642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69080"/>
            <a:ext cx="106070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1D5FD6"/>
                </a:solidFill>
                <a:latin typeface="Calibri"/>
              </a:rPr>
              <a:t>Bounded repair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262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D5FD6"/>
                </a:solidFill>
                <a:latin typeface="Calibri"/>
              </a:rPr>
              <a:t>•  </a:t>
            </a:r>
            <a:r>
              <a:rPr sz="1400">
                <a:solidFill>
                  <a:srgbClr val="0F172A"/>
                </a:solidFill>
                <a:latin typeface="Calibri"/>
              </a:rPr>
              <a:t>If the simulation finds a deadline miss, drop the worst offending order and re-solve that zone.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D5FD6"/>
                </a:solidFill>
                <a:latin typeface="Calibri"/>
              </a:rPr>
              <a:t>•  </a:t>
            </a:r>
            <a:r>
              <a:rPr sz="1400">
                <a:solidFill>
                  <a:srgbClr val="0F172A"/>
                </a:solidFill>
                <a:latin typeface="Calibri"/>
              </a:rPr>
              <a:t>Repeat until no deadline is missed or no orders remain, so the returned plan is always feasible.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D5FD6"/>
                </a:solidFill>
                <a:latin typeface="Calibri"/>
              </a:rPr>
              <a:t>•  </a:t>
            </a:r>
            <a:r>
              <a:rPr sz="1400">
                <a:solidFill>
                  <a:srgbClr val="0F172A"/>
                </a:solidFill>
                <a:latin typeface="Calibri"/>
              </a:rPr>
              <a:t>The dashboard marks dropped orders with a dashed red ring so you can see exactly what the repair removed.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Measured: scaling and capacity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CSE Rhinos · Group 7 · Last-mile Delivery with Deadlines · DAA PBL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12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234440"/>
          <a:ext cx="557784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1234440"/>
          <a:ext cx="5394960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623560"/>
            <a:ext cx="54864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Solve time grows from 5 ms at 20 nodes to 191 ms at 130 nodes: roughly cubic, dominated by the metric closure.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623560"/>
            <a:ext cx="53949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More capacity buys more profit (524 → 962) with diminishing, noisy returns once capacity stops binding.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How the software is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CSE Rhinos · Group 7 · Last-mile Delivery with Deadlines · DAA PBL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94960" cy="23774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50657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1D5FD6"/>
                </a:solidFill>
                <a:latin typeface="Calibri"/>
              </a:rPr>
              <a:t>Backend: Python + FastAPI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74519"/>
            <a:ext cx="5065776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All algorithms live in a pure-Python core package. One /api/solve call returns the plan, metrics and a typed trace of every algorithm step; /api/bench runs the experiments.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94960" cy="23774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481328"/>
            <a:ext cx="50657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047857"/>
                </a:solidFill>
                <a:latin typeface="Calibri"/>
              </a:rPr>
              <a:t>Frontend: React + 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74519"/>
            <a:ext cx="5065776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TypeScript, Tailwind, Motion for animation, Zustand for state, Recharts for charts. Dark and light themes, keyboard accessible, responsive.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041648"/>
            <a:ext cx="50657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A54B06"/>
                </a:solidFill>
                <a:latin typeface="Calibri"/>
              </a:rPr>
              <a:t>Trace-driven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434840"/>
            <a:ext cx="5065776" cy="1600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The UI never re-runs algorithms. It folds the recorded trace up to a cursor, so play, pause, step and scrub are exact and cheap.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4041648"/>
            <a:ext cx="50657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475569"/>
                </a:solidFill>
                <a:latin typeface="Calibri"/>
              </a:rPr>
              <a:t>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4434840"/>
            <a:ext cx="5065776" cy="1600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388 automated backend tests, 39 frontend tests, strict TypeScript build, accessibility and contrast checks; deployed on Vercel.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The dashboard: what you can do with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CSE Rhinos · Group 7 · Last-mile Delivery with Deadlines · DAA PBL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D5FD6"/>
                </a:solidFill>
                <a:latin typeface="Calibri"/>
              </a:rPr>
              <a:t>•  </a:t>
            </a:r>
            <a:r>
              <a:rPr b="1" sz="1600">
                <a:solidFill>
                  <a:srgbClr val="0F172A"/>
                </a:solidFill>
                <a:latin typeface="Calibri"/>
              </a:rPr>
              <a:t>Choose algorithms:  </a:t>
            </a:r>
            <a:r>
              <a:rPr sz="1600">
                <a:solidFill>
                  <a:srgbClr val="475569"/>
                </a:solidFill>
                <a:latin typeface="Calibri"/>
              </a:rPr>
              <a:t>one per stage (shortest paths, zoning, selection, sequencing), then Run.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5FD6"/>
                </a:solidFill>
                <a:latin typeface="Calibri"/>
              </a:rPr>
              <a:t>•  </a:t>
            </a:r>
            <a:r>
              <a:rPr b="1" sz="1600">
                <a:solidFill>
                  <a:srgbClr val="0F172A"/>
                </a:solidFill>
                <a:latin typeface="Calibri"/>
              </a:rPr>
              <a:t>Shape the instance:  </a:t>
            </a:r>
            <a:r>
              <a:rPr sz="1600">
                <a:solidFill>
                  <a:srgbClr val="475569"/>
                </a:solidFill>
                <a:latin typeface="Calibri"/>
              </a:rPr>
              <a:t>topology, nodes, density, subsidised edges, orders, vehicles, capacity, horizon.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5FD6"/>
                </a:solidFill>
                <a:latin typeface="Calibri"/>
              </a:rPr>
              <a:t>•  </a:t>
            </a:r>
            <a:r>
              <a:rPr b="1" sz="1600">
                <a:solidFill>
                  <a:srgbClr val="0F172A"/>
                </a:solidFill>
                <a:latin typeface="Calibri"/>
              </a:rPr>
              <a:t>Watch it think:  </a:t>
            </a:r>
            <a:r>
              <a:rPr sz="1600">
                <a:solidFill>
                  <a:srgbClr val="475569"/>
                </a:solidFill>
                <a:latin typeface="Calibri"/>
              </a:rPr>
              <a:t>play the trace and see the search frontier, MST links and routes appear in turn.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5FD6"/>
                </a:solidFill>
                <a:latin typeface="Calibri"/>
              </a:rPr>
              <a:t>•  </a:t>
            </a:r>
            <a:r>
              <a:rPr b="1" sz="1600">
                <a:solidFill>
                  <a:srgbClr val="0F172A"/>
                </a:solidFill>
                <a:latin typeface="Calibri"/>
              </a:rPr>
              <a:t>Read the answer:  </a:t>
            </a:r>
            <a:r>
              <a:rPr sz="1600">
                <a:solidFill>
                  <a:srgbClr val="475569"/>
                </a:solidFill>
                <a:latin typeface="Calibri"/>
              </a:rPr>
              <a:t>net profit, orders served, on-time %, utilisation, bound gap, alerts.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5FD6"/>
                </a:solidFill>
                <a:latin typeface="Calibri"/>
              </a:rPr>
              <a:t>•  </a:t>
            </a:r>
            <a:r>
              <a:rPr b="1" sz="1600">
                <a:solidFill>
                  <a:srgbClr val="0F172A"/>
                </a:solidFill>
                <a:latin typeface="Calibri"/>
              </a:rPr>
              <a:t>Inspect:  </a:t>
            </a:r>
            <a:r>
              <a:rPr sz="1600">
                <a:solidFill>
                  <a:srgbClr val="475569"/>
                </a:solidFill>
                <a:latin typeface="Calibri"/>
              </a:rPr>
              <a:t>click any stop or road; step through them with the keyboard.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17320"/>
            <a:ext cx="5120640" cy="39319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08760"/>
            <a:ext cx="47548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1D5FD6"/>
                </a:solidFill>
                <a:latin typeface="Calibri"/>
              </a:rPr>
              <a:t>Result tabs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96596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D5FD6"/>
                </a:solidFill>
                <a:latin typeface="Calibri"/>
              </a:rPr>
              <a:t>•  </a:t>
            </a:r>
            <a:r>
              <a:rPr b="1" sz="1400">
                <a:solidFill>
                  <a:srgbClr val="0F172A"/>
                </a:solidFill>
                <a:latin typeface="Calibri"/>
              </a:rPr>
              <a:t>Summary:  </a:t>
            </a:r>
            <a:r>
              <a:rPr sz="1400">
                <a:solidFill>
                  <a:srgbClr val="475569"/>
                </a:solidFill>
                <a:latin typeface="Calibri"/>
              </a:rPr>
              <a:t>headline numbers and alerts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D5FD6"/>
                </a:solidFill>
                <a:latin typeface="Calibri"/>
              </a:rPr>
              <a:t>•  </a:t>
            </a:r>
            <a:r>
              <a:rPr b="1" sz="1400">
                <a:solidFill>
                  <a:srgbClr val="0F172A"/>
                </a:solidFill>
                <a:latin typeface="Calibri"/>
              </a:rPr>
              <a:t>Vehicles:  </a:t>
            </a:r>
            <a:r>
              <a:rPr sz="1400">
                <a:solidFill>
                  <a:srgbClr val="475569"/>
                </a:solidFill>
                <a:latin typeface="Calibri"/>
              </a:rPr>
              <a:t>per-vehicle route, load and isolate-on-map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D5FD6"/>
                </a:solidFill>
                <a:latin typeface="Calibri"/>
              </a:rPr>
              <a:t>•  </a:t>
            </a:r>
            <a:r>
              <a:rPr b="1" sz="1400">
                <a:solidFill>
                  <a:srgbClr val="0F172A"/>
                </a:solidFill>
                <a:latin typeface="Calibri"/>
              </a:rPr>
              <a:t>Algorithms:  </a:t>
            </a:r>
            <a:r>
              <a:rPr sz="1400">
                <a:solidFill>
                  <a:srgbClr val="475569"/>
                </a:solidFill>
                <a:latin typeface="Calibri"/>
              </a:rPr>
              <a:t>trace log, Floyd matrix heat-map, DP table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D5FD6"/>
                </a:solidFill>
                <a:latin typeface="Calibri"/>
              </a:rPr>
              <a:t>•  </a:t>
            </a:r>
            <a:r>
              <a:rPr b="1" sz="1400">
                <a:solidFill>
                  <a:srgbClr val="0F172A"/>
                </a:solidFill>
                <a:latin typeface="Calibri"/>
              </a:rPr>
              <a:t>Experiments:  </a:t>
            </a:r>
            <a:r>
              <a:rPr sz="1400">
                <a:solidFill>
                  <a:srgbClr val="475569"/>
                </a:solidFill>
                <a:latin typeface="Calibri"/>
              </a:rPr>
              <a:t>five live benchmark charts with data 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480560"/>
            <a:ext cx="475488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5B677A"/>
                </a:solidFill>
                <a:latin typeface="Calibri"/>
              </a:rPr>
              <a:t>Live: frontend-rust-phi-66.vercel.app
Code: github.com/EXCALIBUR303/lastmile-daa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Class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CSE Rhinos · Group 7 · Last-mile Delivery with Deadlines · DAA PBL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15</a:t>
            </a:r>
          </a:p>
        </p:txBody>
      </p:sp>
      <p:pic>
        <p:nvPicPr>
          <p:cNvPr id="6" name="Picture 5" descr="uml-class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5166360" cy="5166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371600"/>
            <a:ext cx="3200400" cy="21031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7072" y="1481328"/>
            <a:ext cx="287121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1D5FD6"/>
                </a:solidFill>
                <a:latin typeface="Calibri"/>
              </a:rPr>
              <a:t>How to read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7072" y="1874519"/>
            <a:ext cx="2871216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Boxes are the backend classes grouped by pipeline stage; arrows show which stage feeds which. The full-size vector file is docs/uml-class-diagram.svg.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3657600"/>
            <a:ext cx="3200400" cy="21031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7072" y="3767328"/>
            <a:ext cx="287121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047857"/>
                </a:solidFill>
                <a:latin typeface="Calibri"/>
              </a:rPr>
              <a:t>Design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4160520"/>
            <a:ext cx="2871216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Pure algorithm classes in the core package, a thin API layer on top, and a typed Step trace that the UI replays.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Results and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CSE Rhinos · Group 7 · Last-mile Delivery with Deadlines · DAA PBL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566160" cy="23317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32369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047857"/>
                </a:solidFill>
                <a:latin typeface="Calibri"/>
              </a:rPr>
              <a:t>What we found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74519"/>
            <a:ext cx="3236976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Dijkstra from stops is fastest overall; Johnson wins sparse, Floyd dense. MST zoning cuts travel by 16%. Deadline-aware DP needs ~46% fewer repairs than deadline-blind DP.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566160" cy="23317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481328"/>
            <a:ext cx="32369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1D5FD6"/>
                </a:solidFill>
                <a:latin typeface="Calibri"/>
              </a:rPr>
              <a:t>What it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1874519"/>
            <a:ext cx="3236976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No single algorithm wins everywhere. Matching the algorithm to the graph and constraint structure is the real lesson of the course.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566160" cy="23317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481328"/>
            <a:ext cx="32369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A54B06"/>
                </a:solidFill>
                <a:latin typeface="Calibri"/>
              </a:rPr>
              <a:t>Limits we state openly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1874519"/>
            <a:ext cx="3236976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Heuristic pipeline, not a proven optimum. The LP bound is loose (mean gap ≈ 43–53%). Benchmarks use synthetic graphs and a few seeds.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110642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23360"/>
            <a:ext cx="106070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1D5FD6"/>
                </a:solidFill>
                <a:latin typeface="Calibri"/>
              </a:rPr>
              <a:t>Future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8056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D5FD6"/>
                </a:solidFill>
                <a:latin typeface="Calibri"/>
              </a:rPr>
              <a:t>•  </a:t>
            </a:r>
            <a:r>
              <a:rPr sz="1400">
                <a:solidFill>
                  <a:srgbClr val="0F172A"/>
                </a:solidFill>
                <a:latin typeface="Calibri"/>
              </a:rPr>
              <a:t>Tighter upper bounds (column generation) to measure true optimality gaps.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D5FD6"/>
                </a:solidFill>
                <a:latin typeface="Calibri"/>
              </a:rPr>
              <a:t>•  </a:t>
            </a:r>
            <a:r>
              <a:rPr sz="1400">
                <a:solidFill>
                  <a:srgbClr val="0F172A"/>
                </a:solidFill>
                <a:latin typeface="Calibri"/>
              </a:rPr>
              <a:t>Real road data and time-dependent travel times.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D5FD6"/>
                </a:solidFill>
                <a:latin typeface="Calibri"/>
              </a:rPr>
              <a:t>•  </a:t>
            </a:r>
            <a:r>
              <a:rPr sz="1400">
                <a:solidFill>
                  <a:srgbClr val="0F172A"/>
                </a:solidFill>
                <a:latin typeface="Calibri"/>
              </a:rPr>
              <a:t>Larger zones with metaheuristics (LNS, genetic) on top of 2-opt.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383280"/>
            <a:ext cx="100584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0">
                <a:solidFill>
                  <a:srgbClr val="C8D1DD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846320"/>
            <a:ext cx="100584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8A97AB"/>
                </a:solidFill>
                <a:latin typeface="Calibri"/>
              </a:rPr>
              <a:t>Lakshay Sethia · Sidharth Sood · Ananey Sharma</a:t>
            </a:r>
          </a:p>
          <a:p>
            <a:pPr algn="l"/>
            <a:r>
              <a:rPr sz="1500" b="0">
                <a:solidFill>
                  <a:srgbClr val="8A97AB"/>
                </a:solidFill>
                <a:latin typeface="Calibri"/>
              </a:rPr>
              <a:t>CSE Rhinos · Group 7 · Woxsen University</a:t>
            </a:r>
          </a:p>
          <a:p>
            <a:pPr algn="l"/>
            <a:r>
              <a:rPr sz="1500" b="0">
                <a:solidFill>
                  <a:srgbClr val="8A97AB"/>
                </a:solidFill>
                <a:latin typeface="Calibri"/>
              </a:rPr>
              <a:t>Live demo: frontend-rust-phi-66.vercel.app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